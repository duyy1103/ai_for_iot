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 fine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F2A44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B0 (SVM)</c:v>
                </c:pt>
                <c:pt idx="1">
                  <c:v>B1</c:v>
                </c:pt>
                <c:pt idx="2">
                  <c:v>M1</c:v>
                </c:pt>
                <c:pt idx="3">
                  <c:v>M2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41.75</c:v>
                </c:pt>
                <c:pt idx="1">
                  <c:v>56.7</c:v>
                </c:pt>
                <c:pt idx="2">
                  <c:v>56.45</c:v>
                </c:pt>
                <c:pt idx="3">
                  <c:v>59.7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F2A4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 cmpd="sng" algn="ctr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577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a12a9d8-d7da-4032-b1c4-2b430c61546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822960" cy="73152"/>
          </a:xfrm>
          <a:prstGeom prst="rect">
            <a:avLst/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Phân loại âm thanh môi trường ESC-50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bằng CNN đa nhiệm với nhãn phân cấp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7EA"/>
                </a:solidFill>
              </a:rPr>
              <a:t>Hướng tới IoT / Edge: mô hình ~84 nghìn tham số, suy luận &lt; 1 ms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Giảng viên hướng dẫn: ThS. Hồ Nhựt Minh</a:t>
            </a:r>
            <a:endParaRPr lang="en-US" sz="14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Sinh viên: Dương Minh Duy — MSSV 23110083</a:t>
            </a:r>
            <a:endParaRPr lang="en-US" sz="14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</a:rPr>
              <a:t>Bài toán và dữ liệu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ESC-50: 2.000 đoạn âm thanh 5 giây, 50 lớp, gom thành 5 nhóm lớn (động vật, tự nhiên, tiếng người, trong nhà, đô thị).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Tiền xử lý: resample 44,1 kHz → 16 kHz, log-mel 64 × 251.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Giao thức 5-fold luân phiên 3/1/1: 3 fold train, 1 validation, 1 test.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Chuẩn hóa (μ, σ) và chọn checkpoint chỉ dùng train/validation; test chỉ để đánh giá cuối.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0" y="1097280"/>
            <a:ext cx="1554480" cy="109728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1887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AA7"/>
                </a:solidFill>
              </a:rPr>
              <a:t>2.000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7830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7"/>
                </a:solidFill>
              </a:rPr>
              <a:t>đoạn audio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1554480" cy="109728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0" y="11887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9E4C"/>
                </a:solidFill>
              </a:rPr>
              <a:t>50 / 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7830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7"/>
                </a:solidFill>
              </a:rPr>
              <a:t>lớp / nhóm lớn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1554480" cy="109728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251460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9E4C"/>
                </a:solidFill>
              </a:rPr>
              <a:t>1.200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1089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7"/>
                </a:solidFill>
              </a:rPr>
              <a:t>mẫu train mỗi vòng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0" y="2423160"/>
            <a:ext cx="1554480" cy="109728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0" y="251460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AA7"/>
                </a:solidFill>
              </a:rPr>
              <a:t>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1089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7"/>
                </a:solidFill>
              </a:rPr>
              <a:t>fold, 1 seed (42)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</a:rPr>
              <a:t>Log-mel spectrogram của 50 lớp</a:t>
            </a:r>
            <a:endParaRPr lang="en-US" sz="2600" dirty="0"/>
          </a:p>
        </p:txBody>
      </p:sp>
      <p:pic>
        <p:nvPicPr>
          <p:cNvPr id="4" name="Image 0" descr="Log-mel spectrogram của 50 lớ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783" y="1051560"/>
            <a:ext cx="6468433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577"/>
                </a:solidFill>
              </a:rPr>
              <a:t>Mỗi hàng là một nhóm lớn, mỗi cột là một lớp trong nhóm; hình dạng phổ khác biệt rõ giữa các lớp.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</a:rPr>
              <a:t>Phát hiện chính từ EDA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237744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23774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2344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Im lặng &amp; sàn log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37360"/>
            <a:ext cx="219456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</a:rPr>
              <a:t>10,19% giá trị log-mel ở sàn −100 dB. glass_breaking im lặng nhiều nhất (55,8%), mạng có thể học đường tắt từ tỷ lệ im lặng.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237744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73152" cy="2377440"/>
          </a:xfrm>
          <a:prstGeom prst="rect">
            <a:avLst/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2344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Mất tần số cao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737360"/>
            <a:ext cx="219456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</a:rPr>
              <a:t>crickets có 97,96% năng lượng trên 8 kHz, nên resample 16 kHz làm mất đặc trưng chính của lớp này.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560320" cy="237744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97280"/>
            <a:ext cx="73152" cy="23774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2344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Nhóm theo ngữ nghĩa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737360"/>
            <a:ext cx="219456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</a:rPr>
              <a:t>Chỉ 13/50 lớp (26%) có lớp gần nhất (MFCC) cùng nhóm. Kỳ vọng nhánh coarse ít giúp độ chính xác chi tiết.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577"/>
                </a:solidFill>
              </a:rPr>
              <a:t>Ngoài ra: 4 src_file xuất hiện ở 2 fold (khác lớp) → không rò nhãn, nhưng có thể rò đặc trưng âm học; giữ chia fold chuẩn và ghi vào hạn chế.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</a:rPr>
              <a:t>Phân phối tỷ lệ im lặng</a:t>
            </a:r>
            <a:endParaRPr lang="en-US" sz="2600" dirty="0"/>
          </a:p>
        </p:txBody>
      </p:sp>
      <p:pic>
        <p:nvPicPr>
          <p:cNvPr id="4" name="Image 0" descr="Phân phối tỷ lệ im lặ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07487"/>
            <a:ext cx="8046720" cy="24885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577"/>
                </a:solidFill>
              </a:rPr>
              <a:t>Đa số đoạn gần như không có khoảng lặng, nhưng một số đoạn im lặng tới trên 90%; nhóm G2 (tiếng người) và G3 (trong nhà) có tỷ lệ cao hơn.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</a:rPr>
              <a:t>PCA của MFCC: các nhóm chồng lấn</a:t>
            </a:r>
            <a:endParaRPr lang="en-US" sz="2600" dirty="0"/>
          </a:p>
        </p:txBody>
      </p:sp>
      <p:pic>
        <p:nvPicPr>
          <p:cNvPr id="4" name="Image 0" descr="PCA của MFCC: các nhóm chồng lấ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118" y="1051560"/>
            <a:ext cx="7359765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577"/>
                </a:solidFill>
              </a:rPr>
              <a:t>Năm nhóm lớn chồng lấn mạnh trong không gian MFCC, nên nhóm được chia theo ngữ nghĩa hơn là theo cấu trúc âm học.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</a:rPr>
              <a:t>Các mô hình so sánh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051560"/>
          <a:ext cx="8046720" cy="3063240"/>
        </p:xfrm>
        <a:graphic>
          <a:graphicData uri="http://schemas.openxmlformats.org/drawingml/2006/table">
            <a:tbl>
              <a:tblPr/>
              <a:tblGrid>
                <a:gridCol w="731520"/>
                <a:gridCol w="3291840"/>
                <a:gridCol w="1737360"/>
                <a:gridCol w="822960"/>
                <a:gridCol w="1463040"/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Mô hình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Đầu vào / kiến trúc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Đầu ra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Tham số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Hàm mất mát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B0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MFCC 80 chiều, chuẩn hóa, SVM (chọn C theo val; luôn chọn C = 10)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50 lớp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B1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Log-mel 64×251 → 4 khối Conv(3×3, stride 2) 16-32-64-96 + BN + ReLU → GAP → Dropout 0,2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Fine head 50 lớp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83.746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L = </a:t>
                      </a:r>
                      <a:r>
                        <a:rPr lang="en-US" sz="1150" i="1" dirty="0">
                          <a:solidFill>
                            <a:srgbClr val="1F2A44"/>
                          </a:solidFill>
                        </a:rPr>
                        <a:t>L</a:t>
                      </a:r>
                      <a:r>
                        <a:rPr lang="en-US" sz="1150" i="1" baseline="-40000" dirty="0">
                          <a:solidFill>
                            <a:srgbClr val="1F2A44"/>
                          </a:solidFill>
                        </a:rPr>
                        <a:t>f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M1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Log-mel 64×251 → 4 khối Conv(3×3, stride 2) 16-32-64-96 + BN + ReLU → GAP → Dropout 0,2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Fine head 50 + coarse head 5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84.231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L = </a:t>
                      </a:r>
                      <a:r>
                        <a:rPr lang="en-US" sz="1150" i="1" dirty="0">
                          <a:solidFill>
                            <a:srgbClr val="1F2A44"/>
                          </a:solidFill>
                        </a:rPr>
                        <a:t>L</a:t>
                      </a:r>
                      <a:r>
                        <a:rPr lang="en-US" sz="1150" i="1" baseline="-40000" dirty="0">
                          <a:solidFill>
                            <a:srgbClr val="1F2A44"/>
                          </a:solidFill>
                        </a:rPr>
                        <a:t>f</a:t>
                      </a: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 + </a:t>
                      </a: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0,3 · </a:t>
                      </a:r>
                      <a:r>
                        <a:rPr lang="en-US" sz="1150" i="1" dirty="0">
                          <a:solidFill>
                            <a:srgbClr val="1F2A44"/>
                          </a:solidFill>
                        </a:rPr>
                        <a:t>L</a:t>
                      </a:r>
                      <a:r>
                        <a:rPr lang="en-US" sz="1150" i="1" baseline="-40000" dirty="0">
                          <a:solidFill>
                            <a:srgbClr val="1F2A44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M2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Log-mel 64×251 → 4 khối Conv(3×3, stride 2) 16-32-64-96 + BN + ReLU → GAP → Dropout 0,2; thêm ràng buộc nhất quán JSD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Fine head 50 + coarse head 5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84.231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L = </a:t>
                      </a:r>
                      <a:r>
                        <a:rPr lang="en-US" sz="1150" i="1" dirty="0">
                          <a:solidFill>
                            <a:srgbClr val="1F2A44"/>
                          </a:solidFill>
                        </a:rPr>
                        <a:t>L</a:t>
                      </a:r>
                      <a:r>
                        <a:rPr lang="en-US" sz="1150" i="1" baseline="-40000" dirty="0">
                          <a:solidFill>
                            <a:srgbClr val="1F2A44"/>
                          </a:solidFill>
                        </a:rPr>
                        <a:t>f</a:t>
                      </a: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 + </a:t>
                      </a: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0,3 · </a:t>
                      </a:r>
                      <a:r>
                        <a:rPr lang="en-US" sz="1150" i="1" dirty="0">
                          <a:solidFill>
                            <a:srgbClr val="1F2A44"/>
                          </a:solidFill>
                        </a:rPr>
                        <a:t>L</a:t>
                      </a:r>
                      <a:r>
                        <a:rPr lang="en-US" sz="1150" i="1" baseline="-40000" dirty="0">
                          <a:solidFill>
                            <a:srgbClr val="1F2A44"/>
                          </a:solidFill>
                        </a:rPr>
                        <a:t>c</a:t>
                      </a: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 + </a:t>
                      </a: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0,1 · </a:t>
                      </a:r>
                      <a:r>
                        <a:rPr lang="en-US" sz="1150" i="1" dirty="0">
                          <a:solidFill>
                            <a:srgbClr val="1F2A44"/>
                          </a:solidFill>
                        </a:rPr>
                        <a:t>L</a:t>
                      </a:r>
                      <a:r>
                        <a:rPr lang="en-US" sz="1150" i="1" baseline="-40000" dirty="0">
                          <a:solidFill>
                            <a:srgbClr val="1F2A44"/>
                          </a:solidFill>
                        </a:rPr>
                        <a:t>h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3434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</a:rPr>
              <a:t>Cấu hình huấn luyện: </a:t>
            </a:r>
            <a:r>
              <a:rPr lang="en-US" sz="1200" dirty="0">
                <a:solidFill>
                  <a:srgbClr val="5B6577"/>
                </a:solidFill>
              </a:rPr>
              <a:t>AdamW (lr 1e-3, weight decay 1e-4), CosineAnnealing, batch 32, tối đa 150 epoch, dừng sớm patience 15; SpecAugment trên tập train (1 mặt nạ tần số ≤ 8, 1 mặt nạ thời gian ≤ 25).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</a:rPr>
              <a:t>Kết quả 5-fold: độ chính xác fine (%)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47548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188720"/>
            <a:ext cx="320040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</a:rPr>
              <a:t>CNN vượt xa SVM: +15 điểm so với B0.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</a:rPr>
              <a:t>M1 − B1 = −0,25 ± 3,51 điểm (p = 0,88): nhánh coarse không cải thiện fine.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</a:rPr>
              <a:t>M2 − M1 = +3,25 điểm nhưng p = 0,13: chưa đủ bằng chứng thống kê (1 seed).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</a:rPr>
              <a:t>Kết quả chi tiết (5-fold, TB ± std, %)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005840"/>
          <a:ext cx="8046720" cy="1773936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280160"/>
                <a:gridCol w="1554480"/>
                <a:gridCol w="1280160"/>
                <a:gridCol w="118872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Mô hình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 fine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Macro-F1 fine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 coarse (suy từ fine)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 coarse head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HCR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B0 (MFCC-SVM)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41,75 ± 5,30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39,81 ± 5,04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58,70 ± 4,02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B1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56,70 ± 3,75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55,16 ± 3,97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69,40 ± 2,53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M1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56,45 ± 6,05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55,00 ± 5,97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69,85 ± 4,14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62,00 ± 3,64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71,70 ± 2,57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M2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59,70 ± 3,39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58,21 ± 3,47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72,80 ± 3,14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62,90 ± 2,63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72,60 ± 1,76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</a:rPr>
              <a:t>Kiểm định t ghép cặp theo fold (Δ = chênh lệch Acc fine, điểm %)</a:t>
            </a:r>
            <a:endParaRPr lang="en-US" sz="12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/>
        </p:nvGraphicFramePr>
        <p:xfrm>
          <a:off x="548640" y="3337560"/>
          <a:ext cx="804672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1645920"/>
                <a:gridCol w="2194560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 sánh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Δ trung bình ± std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Kết luận (α = 0,05)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M1 − B1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−0,25 ± 3,51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0,881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Không ý nghĩa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M2 − M1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+3,25 ± 3,84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0,132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Không ý nghĩa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</a:rPr>
                        <a:t>M2 − B1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+3,00 ± 3,34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0,115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</a:rPr>
                        <a:t>Không ý nghĩa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</a:rPr>
              <a:t>Ma trận nhầm lẫn của M1</a:t>
            </a:r>
            <a:endParaRPr lang="en-US" sz="2600" dirty="0"/>
          </a:p>
        </p:txBody>
      </p:sp>
      <p:pic>
        <p:nvPicPr>
          <p:cNvPr id="4" name="Image 0" descr="Ma trận nhầm lẫn của M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930" y="1051560"/>
            <a:ext cx="7040141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577"/>
                </a:solidFill>
              </a:rPr>
              <a:t>Bên trái: 50 lớp, đường chéo rõ nhưng còn nhiều nhầm lẫn rải rác. Bên phải: 5 nhóm, mỗi nhóm đúng 259–287 trên 400 đoạn.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</a:rPr>
              <a:t>Hiệu năng cho IoT / Edge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109728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AA7"/>
                </a:solidFill>
              </a:rPr>
              <a:t>84 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7"/>
                </a:solidFill>
              </a:rPr>
              <a:t>tham số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109728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1887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9E4C"/>
                </a:solidFill>
              </a:rPr>
              <a:t>13,49 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7830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7"/>
                </a:solidFill>
              </a:rPr>
              <a:t>MACs / lần suy luận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828800" cy="109728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1887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AA7"/>
                </a:solidFill>
              </a:rPr>
              <a:t>~655 KiB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7830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7"/>
                </a:solidFill>
              </a:rPr>
              <a:t>RAM tối thiểu (float32)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1097280"/>
            <a:ext cx="2011680" cy="109728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18872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9E4C"/>
                </a:solidFill>
              </a:rPr>
              <a:t>0,75 ms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1783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7"/>
                </a:solidFill>
              </a:rPr>
              <a:t>suy luận CPU, batch=1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651760"/>
            <a:ext cx="80467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44"/>
                </a:solidFill>
              </a:rPr>
              <a:t>Pipeline đầy đủ (đọc đĩa + resample + log-mel + suy luận) ≈ 4,6 ms cho 5 giây audio, RTF ≈ 0,0009.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44"/>
                </a:solidFill>
              </a:rPr>
              <a:t>Tiền xử lý in-memory ≈ 1,4 ms; suy luận mạng chiếm phần nhỏ nhất.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44"/>
                </a:solidFill>
              </a:rPr>
              <a:t>Đo trên Intel i5-11400H, PyTorch 2.7.1 — chưa đo trên vi điều khiển thực tế.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</a:rPr>
              <a:t>Kết luận và hạn chế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20040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3200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2344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Kết luận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37360"/>
            <a:ext cx="356616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</a:rPr>
              <a:t>• CNN nhỏ gọn đạt 56–60% trên ESC-50, hơn hẳn baseline MFCC-SVM (41,75%).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</a:rPr>
              <a:t>• Nhãn phân cấp chưa chứng minh được lợi ích; coarse suy ra từ fine (69–73%) tốt hơn coarse head (62–63%).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</a:rPr>
              <a:t>• Đủ nhẹ và nhanh để triển khai thời gian thực.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320040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97280"/>
            <a:ext cx="73152" cy="3200400"/>
          </a:xfrm>
          <a:prstGeom prst="rect">
            <a:avLst/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2344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</a:rPr>
              <a:t>Hạn chế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37360"/>
            <a:ext cx="356616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</a:rPr>
              <a:t>• Overfitting: train ≈ 85% so với val ≈ 55%.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</a:rPr>
              <a:t>• Chỉ 1 seed; cần 3–5 seed để kiểm định.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</a:rPr>
              <a:t>• Lưới C của SVM luôn chọn biên trên (C = 10).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</a:rPr>
              <a:t>• Mất băng thông &gt; 8 kHz (crickets, glass_breaking).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</a:rPr>
              <a:t>• Rò đặc trưng âm học qua 4 src_file.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4148</Words>
  <Application>WPS Presentation</Application>
  <PresentationFormat>On-screen Show (16:9)</PresentationFormat>
  <Paragraphs>258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ESC-50 Multi-task CNN</dc:title>
  <dc:creator>Dương Minh Duy</dc:creator>
  <dc:subject>PptxGenJS Presentation</dc:subject>
  <cp:lastModifiedBy>duong</cp:lastModifiedBy>
  <cp:revision>2</cp:revision>
  <dcterms:created xsi:type="dcterms:W3CDTF">2026-10-04T18:51:00Z</dcterms:created>
  <dcterms:modified xsi:type="dcterms:W3CDTF">2026-10-04T19:07:33Z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58A0F72B326543529FD5C783EFC0824D_12</vt:lpwstr>
  </property>
</Properties>
</file>